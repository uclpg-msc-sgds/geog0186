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3" r:id="rId3"/>
    <p:sldId id="270" r:id="rId4"/>
    <p:sldId id="271" r:id="rId5"/>
    <p:sldId id="262" r:id="rId6"/>
    <p:sldId id="264" r:id="rId7"/>
    <p:sldId id="260" r:id="rId8"/>
    <p:sldId id="266" r:id="rId9"/>
    <p:sldId id="272" r:id="rId10"/>
    <p:sldId id="268" r:id="rId11"/>
    <p:sldId id="274" r:id="rId12"/>
    <p:sldId id="269" r:id="rId13"/>
    <p:sldId id="273" r:id="rId1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71">
          <p15:clr>
            <a:srgbClr val="A4A3A4"/>
          </p15:clr>
        </p15:guide>
        <p15:guide id="2" orient="horz" pos="2719">
          <p15:clr>
            <a:srgbClr val="A4A3A4"/>
          </p15:clr>
        </p15:guide>
        <p15:guide id="3" orient="horz" pos="2840">
          <p15:clr>
            <a:srgbClr val="A4A3A4"/>
          </p15:clr>
        </p15:guide>
        <p15:guide id="4" orient="horz" pos="1525">
          <p15:clr>
            <a:srgbClr val="A4A3A4"/>
          </p15:clr>
        </p15:guide>
        <p15:guide id="5" pos="3219">
          <p15:clr>
            <a:srgbClr val="A4A3A4"/>
          </p15:clr>
        </p15:guide>
        <p15:guide id="6" pos="3767">
          <p15:clr>
            <a:srgbClr val="A4A3A4"/>
          </p15:clr>
        </p15:guide>
        <p15:guide id="7" pos="37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3"/>
    <p:restoredTop sz="96197"/>
  </p:normalViewPr>
  <p:slideViewPr>
    <p:cSldViewPr snapToGrid="0">
      <p:cViewPr varScale="1">
        <p:scale>
          <a:sx n="96" d="100"/>
          <a:sy n="96" d="100"/>
        </p:scale>
        <p:origin x="1920" y="176"/>
      </p:cViewPr>
      <p:guideLst>
        <p:guide orient="horz" pos="771"/>
        <p:guide orient="horz" pos="2719"/>
        <p:guide orient="horz" pos="2840"/>
        <p:guide orient="horz" pos="1525"/>
        <p:guide pos="3219"/>
        <p:guide pos="3767"/>
        <p:guide pos="37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onathanholmes/Desktop/GEOG0014%20Air%20quality%20practical%202023/linear%20regress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onathanholmes/Desktop/GEOG0014%20Air%20quality%20practical%202023/linear%20regress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onathanholmes/Desktop/GEOG0014%20Air%20quality%20practical%202023/linear%20regression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Sheet2!$A$2:$A$6</c:f>
              <c:numCache>
                <c:formatCode>General</c:formatCode>
                <c:ptCount val="5"/>
                <c:pt idx="0">
                  <c:v>1</c:v>
                </c:pt>
                <c:pt idx="1">
                  <c:v>2.2000000000000002</c:v>
                </c:pt>
                <c:pt idx="2">
                  <c:v>2.8</c:v>
                </c:pt>
                <c:pt idx="3">
                  <c:v>3.1</c:v>
                </c:pt>
                <c:pt idx="4">
                  <c:v>4.7</c:v>
                </c:pt>
              </c:numCache>
            </c:numRef>
          </c:xVal>
          <c:yVal>
            <c:numRef>
              <c:f>Sheet2!$B$2:$B$6</c:f>
              <c:numCache>
                <c:formatCode>General</c:formatCode>
                <c:ptCount val="5"/>
                <c:pt idx="0">
                  <c:v>0.6</c:v>
                </c:pt>
                <c:pt idx="1">
                  <c:v>1.7</c:v>
                </c:pt>
                <c:pt idx="2">
                  <c:v>2.9</c:v>
                </c:pt>
                <c:pt idx="3">
                  <c:v>3</c:v>
                </c:pt>
                <c:pt idx="4">
                  <c:v>4.5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539-E84E-B576-04ADA16E65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02656416"/>
        <c:axId val="702628400"/>
      </c:scatterChart>
      <c:valAx>
        <c:axId val="702656416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2628400"/>
        <c:crosses val="autoZero"/>
        <c:crossBetween val="midCat"/>
      </c:valAx>
      <c:valAx>
        <c:axId val="70262840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2656416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Sheet2!$E$2:$E$6</c:f>
              <c:numCache>
                <c:formatCode>General</c:formatCode>
                <c:ptCount val="5"/>
                <c:pt idx="0">
                  <c:v>1</c:v>
                </c:pt>
                <c:pt idx="1">
                  <c:v>2.2000000000000002</c:v>
                </c:pt>
                <c:pt idx="2">
                  <c:v>2.8</c:v>
                </c:pt>
                <c:pt idx="3">
                  <c:v>3.1</c:v>
                </c:pt>
                <c:pt idx="4">
                  <c:v>4.7</c:v>
                </c:pt>
              </c:numCache>
            </c:numRef>
          </c:xVal>
          <c:yVal>
            <c:numRef>
              <c:f>Sheet2!$F$2:$F$6</c:f>
              <c:numCache>
                <c:formatCode>General</c:formatCode>
                <c:ptCount val="5"/>
                <c:pt idx="0">
                  <c:v>4.5</c:v>
                </c:pt>
                <c:pt idx="1">
                  <c:v>3</c:v>
                </c:pt>
                <c:pt idx="2">
                  <c:v>2.9</c:v>
                </c:pt>
                <c:pt idx="3">
                  <c:v>1.7</c:v>
                </c:pt>
                <c:pt idx="4">
                  <c:v>0.6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B75-144F-BD03-2C4FE2B0BF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71561855"/>
        <c:axId val="925841423"/>
      </c:scatterChart>
      <c:valAx>
        <c:axId val="971561855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5841423"/>
        <c:crosses val="autoZero"/>
        <c:crossBetween val="midCat"/>
      </c:valAx>
      <c:valAx>
        <c:axId val="925841423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1561855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Sheet2!$I$2:$I$6</c:f>
              <c:numCache>
                <c:formatCode>General</c:formatCode>
                <c:ptCount val="5"/>
                <c:pt idx="0">
                  <c:v>1</c:v>
                </c:pt>
                <c:pt idx="1">
                  <c:v>2.2000000000000002</c:v>
                </c:pt>
                <c:pt idx="2">
                  <c:v>2.8</c:v>
                </c:pt>
                <c:pt idx="3">
                  <c:v>3.1</c:v>
                </c:pt>
                <c:pt idx="4">
                  <c:v>4.7</c:v>
                </c:pt>
              </c:numCache>
            </c:numRef>
          </c:xVal>
          <c:yVal>
            <c:numRef>
              <c:f>Sheet2!$J$2:$J$6</c:f>
              <c:numCache>
                <c:formatCode>General</c:formatCode>
                <c:ptCount val="5"/>
                <c:pt idx="0">
                  <c:v>2.9</c:v>
                </c:pt>
                <c:pt idx="1">
                  <c:v>4.5</c:v>
                </c:pt>
                <c:pt idx="2">
                  <c:v>1.7</c:v>
                </c:pt>
                <c:pt idx="3">
                  <c:v>0.6</c:v>
                </c:pt>
                <c:pt idx="4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3B8-584F-A88A-C4B391F46C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02689088"/>
        <c:axId val="702690736"/>
      </c:scatterChart>
      <c:valAx>
        <c:axId val="702689088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2690736"/>
        <c:crosses val="autoZero"/>
        <c:crossBetween val="midCat"/>
      </c:valAx>
      <c:valAx>
        <c:axId val="702690736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2689088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36D344-94D3-CDFE-4590-7A9A756519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0139F4-F399-F92B-0CE6-B71CE9411A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8D7314EC-5854-C14C-BF93-2C2D28B74A55}" type="datetimeFigureOut">
              <a:rPr lang="en-US" altLang="x-none"/>
              <a:pPr>
                <a:defRPr/>
              </a:pPr>
              <a:t>10/14/25</a:t>
            </a:fld>
            <a:endParaRPr lang="en-GB" alt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EAF2D2-B0EE-031E-BF36-44E8A1DBE6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D048AF-1861-70DD-6C4E-B62324E8F0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233008A-B7C5-2946-8686-7873058477C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8:59:38.446"/>
    </inkml:context>
    <inkml:brush xml:id="br0">
      <inkml:brushProperty name="width" value="0.1" units="cm"/>
      <inkml:brushProperty name="height" value="0.6" units="cm"/>
      <inkml:brushProperty name="color" value="#E71224"/>
      <inkml:brushProperty name="inkEffects" value="pencil"/>
    </inkml:brush>
  </inkml:definitions>
  <inkml:trace contextRef="#ctx0" brushRef="#br0">1584 25 16383,'-33'0'0,"-4"0"0,-7 0 0,-2 0 0,-2 0 0,-5 10 0,-8 10 0,-8 16 0,-4 11 0,-4 9 0,38-25 0,0 1 0,0 0 0,0 1 0,1 0 0,1 1 0,-1 0 0,1 1 0,-3 4 0,1 2 0,-2 5 0,1 1 0,-3 4 0,0 3 0,-2 4 0,2 2 0,2-2 0,1 0 0,4-4 0,2 0 0,2 0 0,3-1 0,2 1 0,3 1 0,0 3 0,3 2 0,0 4 0,3 1 0,4 1 0,2-1 0,4-2 0,1-1 0,1-2 0,2-3 0,0 43 0,3-19 0,1-20 0,0-18 0,1-14 0,9-12 0,-7 4 0,6 27 0,-12 36 0,1-10 0,0 10 0,1-15 0,-1 5 0,3 3 0,1-3 0,1 3 0,2 2 0,2 2 0,2 11 0,2 3 0,3 0 0,1 1 0,0-18 0,0 1 0,2 0 0,2-1 0,0 1 0,3-1 0,1 1 0,1 0 0,1-3 0,1-2 0,4 7 0,1-2 0,0-4 0,2-2 0,7 11 0,1-4 0,0-6 0,8 10 0,-3-11 0,-14-28 0,-5-7 0,3 11 0,-25-2 0,4 41 0,6-13 0,4 9 0,0-10 0,2 4 0,3 2 0,5 10 0,2 1 0,2 0 0,0 1 0,1-1 0,0-2 0,-3-9 0,0-2 0,0-4 0,8 17 0,-2-8 0,-8-19 0,-2-6 0,18 27 0,-15-32 0,-6-20 0,-4-11 0,1-4 0,6-2 0,6 1 0,8 1 0,8 0 0,5 1 0,6 0 0,3-1 0,0-4 0,0-5 0,-3-5 0,-3-4 0,-2 0 0,-5-3 0,-4-5 0,-6-5 0,-2-5 0,-3-2 0,-3 0 0,-1 1 0,-3 1 0,-5 2 0,-2 2 0,-9 5 0,1-5 0,-2-4 0,4-8 0,1-5 0,-3 2 0,-3 7 0,-3 3 0,-4-1 0,2-8 0,-3-11 0,3-7 0,-1-3 0,-2 3 0,0 6 0,-2 2 0,0 4 0,0-1 0,0-5 0,0 4 0,0-7 0,0 1 0,0-1 0,0-4 0,0 2 0,0 1 0,-2 1 0,-2 4 0,-3 1 0,1-1 0,0-1 0,2-3 0,2-2 0,0 1 0,2-2 0,0-1 0,0 1 0,0-6 0,-2-3 0,0-5 0,-2-4 0,-1 2 0,0 0 0,-1 3 0,1 3 0,0 0 0,3 0 0,2 1 0,0 0 0,0 23 0,0-6 0,0-6 0,-2-33 0,-1 16 0,0-7 0,0-17 0,0-4 0,-1 0 0,2-1 0,0 1 0,1 1 0,1 9 0,0 3 0,0 10 0,0 2 0,0 2 0,0 1 0,0 5 0,0 2 0,0-37 0,0 17 0,0 12 0,0 9 0,0 6 0,0 3 0,0 2 0,0 4 0,0-6 0,0 22 0,0-9 0,-2-16 0,-2-33 0,-1 22 0,-1-5 0,-3-13 0,-3-2 0,0-1 0,-1-2 0,-2-4 0,1-1 0,1 6 0,2 1 0,3 4 0,1 3 0,3 5 0,1 2 0,1 7 0,1 1 0,1 6 0,0 2 0,0-35 0,0 9 0,0 5 0,0 1 0,0-1 0,0 4 0,1 5 0,3 9 0,0 16 0,1 10 0,-3-1 0,-2-16 0,1-23 0,7-26 0,-2 40 0,1 1 0,11-47 0,-1 14 0,-6 22 0,-5 18 0,-3 7 0,-2 5 0,-1 5 0,0 5 0,0 5 0,0 4 0,0-3 0,0-3 0,-3-2 0,-2 0 0,-4 3 0,-5 2 0,-4 0 0,-5 2 0,-4 2 0,-6 4 0,-3 3 0,-4 4 0,-1 1 0,0 0 0,0 0 0,1 0 0,2 0 0,2 0 0,4 0 0,3 0 0,3 0 0,2 0 0,-1 0 0,-1 3 0,1 3 0,0 3 0,1 1 0,0 0 0,-1 0 0,0-1 0,3-2 0,5-3 0,6-2 0,6-2 0,3 0 0,3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8:59:43.196"/>
    </inkml:context>
    <inkml:brush xml:id="br0">
      <inkml:brushProperty name="width" value="0.1" units="cm"/>
      <inkml:brushProperty name="height" value="0.6" units="cm"/>
      <inkml:brushProperty name="color" value="#E71224"/>
      <inkml:brushProperty name="inkEffects" value="pencil"/>
    </inkml:brush>
  </inkml:definitions>
  <inkml:trace contextRef="#ctx0" brushRef="#br0">1122 71 16383,'-51'0'0,"-24"0"0,22-1 0,-5 3 0,-13 1 0,-2 4 0,-2 3 0,0 2 0,3 2 0,1 5 0,6 2 0,3 5 0,9 0 0,4 2 0,2 6 0,6 3 0,8 3 0,6 5 0,5 5 0,6 3 0,3 8 0,4 1 0,4 3 0,3 1 0,-1 1 0,3-3 0,3-3 0,4-4 0,3-8 0,4-2 0,26 32 0,13-11 0,19-2 0,-30-31 0,3 0 0,4 4 0,2-1 0,8 5 0,1 1 0,3 2 0,1 1 0,2 1 0,1-1 0,6 3 0,2 1 0,-5-6 0,2-1 0,4-3 0,2-2 0,5-5 0,2-4 0,-2-5 0,3-6 0,-14-7 0,3-3 0,-7 0 0,-10-2 0,-2-1 0,27-2 0,4-3 0,-3-2 0,7-3 0,-13-1 0,9 0 0,6-4 0,4 0 0,-12 0 0,5-2 0,4-1 0,2 0 0,1-2 0,2 0 0,-16 1 0,3-1 0,0 0 0,2-1 0,0-1 0,1 1 0,-1-1 0,0 0 0,0-1 0,1-2 0,1 1 0,-1 0 0,0-1 0,0 1 0,-1-1 0,-1 1 0,6-3 0,1 0 0,-1 1 0,-1-1 0,-1 0 0,-3 1 0,-1 1 0,15-4 0,-1 0 0,-4 1 0,-2 1 0,-4 1 0,0 1 0,-2 1 0,-5 1 0,-3 1 0,2 0 0,-4 3 0,-7 1 0,-2 3 0,-9 1 0,21 0 0,-35 5 0,-7 3 0,7 0 0,15 0 0,13 0 0,12 0 0,5 0 0,6 0 0,-43 0 0,1 0 0,9 0 0,2 0 0,8 1 0,1-2 0,4 1 0,0-1 0,-3-2 0,-2-3 0,-9-1 0,-4-1 0,33-11 0,-32 2 0,-28 4 0,-22 6 0,-6-5 0,-7-5 0,-1-11 0,-10-11 0,-13-6 0,-16-4 0,-14-8 0,-6-4 0,-4-8 0,32 33 0,0-3 0,0 2 0,1 0 0,-29-36 0,6 8 0,0 7 0,1 4 0,2 2 0,0 3 0,6 4 0,1 6 0,2 5 0,-3 3 0,-3 1 0,-8 0 0,-6-1 0,-7 2 0,-7-1 0,-8 4 0,34 12 0,-2 3 0,-9-2 0,-2 4 0,-9-2 0,-1 3 0,-7 1 0,-1 0 0,-2 3 0,0-1 0,3 2 0,0 0 0,-3 1 0,-1 0 0,-1 0 0,-1 0 0,-6 0 0,-2 0 0,26 1 0,0 0 0,0 0 0,0 0 0,0 0 0,-1 1 0,-1-1 0,-1 2 0,1-1 0,0 0 0,1 0 0,0 0 0,1 0 0,0 0 0,0 0 0,0 0 0,-1 0 0,2 0 0,-26-1 0,2 2 0,5 1 0,1 2 0,7-1 0,1 3 0,1 1 0,1 1 0,-3 2 0,0 1 0,-2-1 0,-1 1 0,2 0 0,0-1 0,2 1 0,2-2 0,1 1 0,0-1 0,5-2 0,0 1 0,3-2 0,1-2 0,1 1 0,2-1 0,1-1 0,1-1 0,0 1 0,0-2 0,2 1 0,-1 1 0,4-1 0,1-1 0,-46 1 0,13-1 0,11-1 0,10 0 0,6 0 0,6 0 0,7 0 0,7 0 0,9 0 0,3 0 0,4 0 0,2 0 0,0-2 0,2-2 0,1-3 0,4-3 0,5 2 0,3 0 0,2 1 0,0 1 0,2 1 0,-1-1 0,1-1 0,1 2 0,-2-1 0,-1 1 0,3 2 0,-2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8:59:46.246"/>
    </inkml:context>
    <inkml:brush xml:id="br0">
      <inkml:brushProperty name="width" value="0.1" units="cm"/>
      <inkml:brushProperty name="height" value="0.6" units="cm"/>
      <inkml:brushProperty name="color" value="#E71224"/>
      <inkml:brushProperty name="inkEffects" value="pencil"/>
    </inkml:brush>
  </inkml:definitions>
  <inkml:trace contextRef="#ctx0" brushRef="#br0">621 384 16383,'-63'0'0,"-7"0"0,-13 0 0,-3 7 0,4 13 0,11 14 0,13 15 0,13 10 0,13 13 0,13 15 0,13-38 0,2 2 0,3 3 0,4 0 0,5 0 0,4-1 0,5-2 0,5-2 0,5-4 0,4-3 0,3-3 0,3-4 0,35 26 0,4-14 0,5-10 0,3-13 0,11-10 0,-45-13 0,0-4 0,7-7 0,1-5 0,3-5 0,0-5 0,-1-6 0,0-4 0,1-2 0,-2-3 0,-6 2 0,-2 0 0,-3 1 0,-3 2 0,29-28 0,-22 12 0,-16 6 0,-13 2 0,-10-1 0,-7-6 0,-5-6 0,-1-7 0,-5-5 0,-10-3 0,-17-1 0,-13 0 0,-8 2 0,-3 3 0,2 7 0,0 8 0,2 8 0,2 8 0,1 9 0,1 7 0,-3 4 0,-3 7 0,-7 3 0,-9 4 0,-5 2 0,0 0 0,8 0 0,15 0 0,15 0 0,19 0 0,4 0 0,4 0 0,-7 5 0,-7 9 0,-6 9 0,0 5 0,3 0 0,8-4 0,8-2 0,5-9 0,4 1 0,2-6 0,0 4 0,0 4 0,2 4 0,3 0 0,7 2 0,6-1 0,5-2 0,4-1 0,0-1 0,-1-4 0,-2-2 0,-4-3 0,-3-1 0,-1-2 0,-1-1 0,-1-2 0,-3-1 0,-3 2 0,-2 1 0,0 1 0,0-1 0,-3-2 0,-2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6:19:35.627"/>
    </inkml:context>
    <inkml:brush xml:id="br0">
      <inkml:brushProperty name="width" value="0.1" units="cm"/>
      <inkml:brushProperty name="height" value="0.6" units="cm"/>
      <inkml:brushProperty name="color" value="#E71224"/>
      <inkml:brushProperty name="inkEffects" value="pencil"/>
    </inkml:brush>
  </inkml:definitions>
  <inkml:trace contextRef="#ctx0" brushRef="#br0">3161 234 16383,'-77'-26'0,"0"0"0,-1-1 0,-16 1 0,-4 2 0,10 5 0,16 8 0,2 4 0,-28-2 0,2 2 0,37 3 0,3 1 0,-11-2 0,-1 1 0,1-1 0,2 0 0,6 1 0,2 0 0,-30-2 0,26 5 0,2 0 0,-10 1 0,-20-2 0,36 1 0,-3-1 0,-1 1 0,0 0 0,4-1 0,1 1 0,-31 1 0,19 1 0,6 0 0,5 0 0,8-1 0,5 0 0,3 1 0,-4 0 0,-10 2 0,-5 2 0,3-1 0,5 1 0,9 1 0,7 2 0,-3 7 0,-6 8 0,-5 10 0,-2 9 0,1 8 0,4 5 0,7 3 0,5 0 0,7-3 0,7-6 0,4-2 0,3 1 0,2 4 0,1 9 0,1 2 0,2-3 0,1-5 0,2-8 0,0-2 0,1 1 0,3 2 0,2 4 0,2 4 0,4 7 0,7 9 0,7 9 0,5 2 0,-1-6 0,-1-6 0,-1-12 0,1-4 0,6-2 0,8-3 0,9 3 0,7 1 0,4-2 0,3-4 0,-2-8 0,3-8 0,5-7 0,4-3 0,1-4 0,-9-4 0,-12-5 0,3-1 0,20 0 0,-27-2 0,3 0 0,7 0 0,1 0 0,-4 0 0,-2 0 0,34 1 0,-25-3 0,-9-1 0,7-1 0,15 0 0,7-1 0,3-3 0,-6-3 0,-6-2 0,-4-1 0,-5-2 0,-9 0 0,-11-2 0,-3-5 0,-1-3 0,7-6 0,6-2 0,-2 0 0,-3 0 0,3-6 0,-18 9 0,17-16 0,-13 9 0,14-10 0,3-2 0,-2-1 0,-1 0 0,-6 3 0,-3 3 0,-3 3 0,-1 2 0,1 0 0,2 0 0,-1-2 0,-2 0 0,-3 2 0,-2 1 0,1-2 0,2-4 0,-1-3 0,-3-3 0,-5 3 0,-6 5 0,-7 5 0,-6 8 0,-4 2 0,0 0 0,-1-3 0,0-4 0,-2-4 0,0-1 0,-2 2 0,-1 2 0,0 0 0,-2-1 0,-1 0 0,-1 3 0,-1 6 0,0 4 0,0 1 0,-1-1 0,-1 0 0,0 2 0,0 0 0,-1 1 0,-2-6 0,-4-3 0,-4-3 0,-3-1 0,-1 5 0,3 5 0,4 7 0,5 4 0,0 3 0,-9-4 0,-22-5 0,9 2 0,-22-8 0,23 8 0,-5-2 0,7 2 0,4 1 0,4 0 0,6 2 0,4 2 0,5 2 0,-2-2 0,-4-1 0,-1 0 0,-1 0 0,-1 1 0,-2 3 0,-7-2 0,-9-1 0,-4 0 0,6 1 0,11 2 0,12 2 0,6-4 0,0-4 0,-1-5 0,0-3 0,-1-3 0,0 10 0,1 1 0,2 9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6:19:36.575"/>
    </inkml:context>
    <inkml:brush xml:id="br0">
      <inkml:brushProperty name="width" value="0.1" units="cm"/>
      <inkml:brushProperty name="height" value="0.6" units="cm"/>
      <inkml:brushProperty name="color" value="#E71224"/>
      <inkml:brushProperty name="inkEffects" value="pencil"/>
    </inkml:brush>
  </inkml:definitions>
  <inkml:trace contextRef="#ctx0" brushRef="#br0">1 0 16383,'0'0'0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6:19:59.837"/>
    </inkml:context>
    <inkml:brush xml:id="br0">
      <inkml:brushProperty name="width" value="0.1" units="cm"/>
      <inkml:brushProperty name="height" value="0.6" units="cm"/>
      <inkml:brushProperty name="color" value="#E71224"/>
      <inkml:brushProperty name="inkEffects" value="pencil"/>
    </inkml:brush>
  </inkml:definitions>
  <inkml:trace contextRef="#ctx0" brushRef="#br0">416 250 16383,'-23'1'0,"-6"2"0,-11 2 0,-3 0 0,6 1 0,8-2 0,8 0 0,7-1 0,2 1 0,-1 1 0,0 2 0,-1 2 0,0 1 0,0 0 0,3 0 0,1 0 0,1 1 0,-2 5 0,3-5 0,-2 7 0,5-5 0,-1 4 0,1 2 0,0 0 0,1 0 0,1-1 0,0-2 0,2 1 0,-1 1 0,0 0 0,0 1 0,1-1 0,0 4 0,1 4 0,0 3 0,1 4 0,1 4 0,0-12 0,0 13 0,0-7 0,3 28 0,0-15 0,4 23 0,-2-25 0,1 8 0,-2-8 0,-2-6 0,-1-5 0,0 0 0,1 3 0,0 3 0,0 1 0,0 0 0,0-2 0,-1-3 0,0 2 0,-1 0 0,1 5 0,1 6 0,1 5 0,2 3 0,2 0 0,1-3 0,-1-7 0,0-6 0,-2-5 0,1 1 0,0-2 0,1 2 0,3-1 0,0-5 0,-1-3 0,-1-5 0,2-2 0,5 2 0,5 1 0,1 0 0,-2-3 0,-4-3 0,1 0 0,2 3 0,3 1 0,0 0 0,-2-1 0,-3-3 0,-1-2 0,3-1 0,7 2 0,5 0 0,4 0 0,-2-4 0,-4-2 0,-1-2 0,3 0 0,4-1 0,5 1 0,6-1 0,10-1 0,37 1 0,-32-1 0,27 0 0,-55-3 0,8 1 0,-6-2 0,13 1 0,18-1 0,10 0 0,4 0 0,-8 0 0,-10 0 0,0-1 0,5 0 0,3-3 0,0-1 0,-9-1 0,-12 0 0,-11 1 0,-5-1 0,-3-1 0,2 0 0,-4 0 0,-5-2 0,5-3 0,7-7 0,16-7 0,14-6 0,2 1 0,-3 3 0,-13 5 0,-12 2 0,-7 0 0,-7 1 0,1-2 0,1 0 0,4-4 0,4-3 0,1-4 0,-3 2 0,-3 3 0,-3 2 0,-2 3 0,-1-2 0,-2-2 0,1-2 0,3-3 0,0 0 0,0-1 0,-1 1 0,-3 4 0,4-3 0,1 0 0,-1 2 0,-1 0 0,-5 4 0,-4 0 0,0-1 0,-1-2 0,-1 1 0,-2-2 0,-3 2 0,-2-3 0,-1-3 0,-1-1 0,0-3 0,1 3 0,-2 4 0,-1 1 0,0-1 0,0-5 0,0-2 0,-1 1 0,-1 3 0,-1 2 0,-2-2 0,-2-2 0,-5-2 0,-3 2 0,-1 4 0,0 3 0,-5-6 0,4 9 0,-14-20 0,-1 5 0,-16-16 0,-4-2 0,1 4 0,4 5 0,8 12 0,0 2 0,-9-2 0,-8-1 0,-9-3 0,-1 5 0,8 10 0,1 5 0,-5 2 0,-16-2 0,-18-1 0,41 11 0,0 0 0,-47-6 0,10 2 0,7 4 0,-4 2 0,-5 0 0,-1 1 0,8 2 0,17 1 0,12 3 0,8 1 0,4 1 0,-14 0 0,17 0 0,-16 0 0,24 0 0,-3 1 0,8-1 0,5 2 0,-1-1 0,-4 0 0,-3 0 0,0 0 0,3 0 0,3 0 0,-2 0 0,-4 2 0,-5 1 0,0 1 0,3 1 0,1-1 0,-2 0 0,-2 1 0,1-1 0,3 1 0,5-1 0,0 0 0,-4 2 0,-4 2 0,-1 0 0,1 1 0,4-3 0,5 0 0,4-2 0,5-2 0,7 0 0,0-1 0,3-1 0,-3 0 0,-2 1 0,-3 1 0,-2 0 0,-2 1 0,-2-1 0,0 1 0,3-1 0,4 0 0,8-2 0,-1 1 0,3-2 0,0 2 0,-2 0 0,0 1 0,-2 1 0,0 0 0,0 0 0,-2 1 0,0-1 0,0 0 0,0-1 0,1 0 0,-1-1 0,0 0 0,2 0 0,1-1 0,3-1 0,1-1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6:26:55.511"/>
    </inkml:context>
    <inkml:brush xml:id="br0">
      <inkml:brushProperty name="width" value="0.1" units="cm"/>
      <inkml:brushProperty name="height" value="0.6" units="cm"/>
      <inkml:brushProperty name="color" value="#E71224"/>
      <inkml:brushProperty name="inkEffects" value="pencil"/>
    </inkml:brush>
  </inkml:definitions>
  <inkml:trace contextRef="#ctx0" brushRef="#br0">158 4 16383,'-53'62'0,"5"2"0,35-23 0,0 8 0,2-2 0,5-10 0,3-12 0,0 2 0,0 4 0,1 4 0,0 3 0,1 2 0,2-2 0,0-2 0,-1-1 0,2 3 0,0 4 0,3 5 0,0 0 0,-1-4 0,-1-6 0,-2-2 0,-1-10 0,0 8 0,-1-6 0,0 10 0,0 5 0,1 5 0,0 1 0,0 2 0,0 6 0,0 5 0,0 7 0,1 6 0,0-2 0,0-4 0,0-1 0,-2-1 0,0 7 0,1 5 0,1 1 0,1-8 0,1-5 0,-1-7 0,0-8 0,0 1 0,1-3 0,0-4 0,-1-1 0,0-7 0,-1 2 0,1 2 0,-1 3 0,2 1 0,1-4 0,-1-3 0,1 4 0,0 6 0,0 0 0,3 3 0,2-3 0,0 0 0,4 5 0,2 4 0,2 1 0,6 2 0,5 1 0,7 0 0,7 0 0,6-3 0,4-6 0,5-6 0,2-6 0,8-5 0,16-2 0,-36-16 0,3-1 0,2 0 0,1 0 0,0-1 0,1 0 0,3-1 0,2-1 0,7 0 0,4 1 0,12 1 0,3 0 0,9 0 0,1 0 0,-7-1 0,-2-1 0,-9-3 0,-4-1 0,-10-3 0,-3-1 0,-6-2 0,-2 0 0,-1-1 0,0-1 0,42-2 0,-6-3 0,3-2 0,9-3 0,-44 4 0,0 1 0,2-1 0,-1 0 0,43-4 0,-13-2 0,-14 1 0,2-2 0,11 2 0,4 2 0,-2 0 0,-11-1 0,-10-5 0,-1-4 0,-1-2 0,1-1 0,-5 1 0,-1-1 0,2-5 0,1-6 0,5-8 0,-6-2 0,-11-1 0,-5-7 0,0-10 0,5-13 0,-23 31 0,0-1 0,-1-1 0,-2 1 0,16-42 0,-9-1 0,-6-7 0,-14 43 0,0 1 0,6-49 0,-3 7 0,-5 11 0,-3-1 0,-3-1 0,-1 2 0,-2 0 0,0 4 0,0-4 0,-1-7 0,-1-9 0,0 44 0,-1 0 0,0-3 0,-2 1 0,0 2 0,-1 0 0,0 1 0,0 0 0,-9-47 0,-1 9 0,-2 7 0,0 10 0,1 13 0,0 6 0,-2 2 0,-6-1 0,-11-6 0,-7 1 0,-3 7 0,-2 5 0,-4 2 0,-13-5 0,23 19 0,-3-1 0,-4 0 0,-3-1 0,-16-6 0,0 2 0,20 11 0,0 0 0,-18-6 0,0 2 0,-16-3 0,25 11 0,0 1 0,-16-2 0,-21-2 0,24 11 0,-24-4 0,44 9 0,-1 0 0,-3 2 0,-1-1 0,2 2 0,1 0 0,-2 0 0,-1 1 0,-3 1 0,0 0 0,-1 0 0,0 0 0,-4 1 0,0-1 0,3 2 0,3-1 0,-37 0 0,17 1 0,11 0 0,3 0 0,-3 0 0,3 0 0,2 0 0,7 0 0,6 0 0,1 0 0,-1 0 0,-3-1 0,3 0 0,10-1 0,10 0 0,5 1 0,-6 0 0,-11-2 0,-9-1 0,-5-1 0,2 0 0,6 0 0,7 0 0,3 1 0,-1 0 0,0 1 0,-3 0 0,0-2 0,-2-1 0,-5 0 0,-1-1 0,5 2 0,11 2 0,13 1 0,9 2 0,0-1 0,-2 0 0,-3-1 0,1 1 0,2 0 0,2 1 0,-1 0 0,-1 0 0,-2-1 0,-2 1 0,0-1 0,5 0 0,3 1 0,4 0 0,0 0 0,-3 0 0,-5-1 0,-2 0 0,0 1 0,3 0 0,1 0 0,1 1 0,1 0 0,2 1 0,2-1 0,1 0 0,1 0 0,0 0 0,-2 0 0,1 0 0,1 0 0,-1 1 0,1-1 0,-2 1 0,2-2 0,-2 0 0,2 0 0,0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6:19:36.575"/>
    </inkml:context>
    <inkml:brush xml:id="br0">
      <inkml:brushProperty name="width" value="0.1" units="cm"/>
      <inkml:brushProperty name="height" value="0.6" units="cm"/>
      <inkml:brushProperty name="color" value="#E71224"/>
      <inkml:brushProperty name="inkEffects" value="pencil"/>
    </inkml:brush>
  </inkml:definitions>
  <inkml:trace contextRef="#ctx0" brushRef="#br0">1 0 16383,'0'0'0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EB88D3C-EEE5-2D57-98A0-B678E44863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C6C636A3-4C60-D744-1D9C-D82ED4F9297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4B964DF4-7DB6-4B8F-D095-DB2D268C6E2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B70F40C1-FA67-54E8-1478-CA6A2DA1280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729540CD-62BB-348F-3558-91889479690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31" name="Rectangle 7">
            <a:extLst>
              <a:ext uri="{FF2B5EF4-FFF2-40B4-BE49-F238E27FC236}">
                <a16:creationId xmlns:a16="http://schemas.microsoft.com/office/drawing/2014/main" id="{1C102E4E-EBF5-D18D-564C-DFADF0C418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0A6BAB5-DD43-5D42-911C-DC557B6040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0F7E6A1B-B966-4D9D-2F2E-C018ECA770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482340D-63BF-D348-BD22-618495B05BEB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71F6538E-A600-BF6E-29E7-1AEBDC66C0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44A8EF86-1D17-37E7-8998-AD1B770F63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GB"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0F7E6A1B-B966-4D9D-2F2E-C018ECA770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482340D-63BF-D348-BD22-618495B05BEB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71F6538E-A600-BF6E-29E7-1AEBDC66C0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44A8EF86-1D17-37E7-8998-AD1B770F63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GB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5260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 descr="DarkBlue1024">
            <a:extLst>
              <a:ext uri="{FF2B5EF4-FFF2-40B4-BE49-F238E27FC236}">
                <a16:creationId xmlns:a16="http://schemas.microsoft.com/office/drawing/2014/main" id="{6B8A0953-FF35-DC38-9272-ACD2F1C6B0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1484313"/>
            <a:ext cx="8496300" cy="1368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3850" y="3068638"/>
            <a:ext cx="8496300" cy="3097212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79C8CCDE-8B01-C912-1BDD-26F211E1C1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323850" y="6245225"/>
            <a:ext cx="8496300" cy="4762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749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9F994C3-A390-BCA3-7A3E-52F2AB717F9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F2235D-1981-8242-95E4-5774AB8B4B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4705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42C4AE0-F6FF-C3A2-10A3-8AFC585C03F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B13678-622A-5D4E-B71C-D248402E58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6289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0200" y="2708275"/>
            <a:ext cx="4168775" cy="3457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2708275"/>
            <a:ext cx="4168775" cy="3457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D330266-6709-333C-342B-5CA6A36784B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CE61BB-B855-9F49-AE02-D50C9B8397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440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93D371-3618-A99C-EAC3-667409FECB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EBD9A1-D16B-1F43-9319-0B22292F79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0754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A5F3400B-F6C2-06BF-3B9D-B1AC5EB575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B98B43-C76C-3549-8C5F-8D77770A8F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4305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05B14C44-6683-84F6-CA1D-53C9D5B65CD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3DF289-EF5C-3247-9693-0C5A6CB9C1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4731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C342510-0506-4927-D4C7-DC160B7DFA5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96AB9F-A243-DC4F-AEF7-C45EB0D994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2070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18164CD-7221-905A-F9F6-094CD9156A2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AB7438-EA95-784C-B9D0-249274AEAC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944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49CFD29-93A9-27A4-3924-D9A0A28F5C7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749E5F-E87E-C040-A64F-04912D4B69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7887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7663" y="908050"/>
            <a:ext cx="2122487" cy="5257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0200" y="908050"/>
            <a:ext cx="6215063" cy="5257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955F77E-A7A6-0413-10D2-C6F4166F396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2F91D0-8B76-2843-956D-E631B38F05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345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F5165B1-BC3E-8CE0-85B2-F2288BC5DB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30200" y="908050"/>
            <a:ext cx="8489950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1AC1C6B-5B34-08A1-9B0C-9423AC1352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30200" y="2708275"/>
            <a:ext cx="8489950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5553BA70-8252-D715-3C3D-D2B60F76F4D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812088" y="6337300"/>
            <a:ext cx="1008062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36C0C0C6-E5DA-8A4D-9A1C-C594B8EAAB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29" name="Picture 13" descr="DarkBlue1024">
            <a:extLst>
              <a:ext uri="{FF2B5EF4-FFF2-40B4-BE49-F238E27FC236}">
                <a16:creationId xmlns:a16="http://schemas.microsoft.com/office/drawing/2014/main" id="{D0EA0727-ED13-32B0-F12A-518CC92259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customXml" Target="../ink/ink1.xml"/><Relationship Id="rId7" Type="http://schemas.openxmlformats.org/officeDocument/2006/relationships/customXml" Target="../ink/ink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0" Type="http://schemas.openxmlformats.org/officeDocument/2006/relationships/image" Target="../media/image80.png"/><Relationship Id="rId9" Type="http://schemas.openxmlformats.org/officeDocument/2006/relationships/customXml" Target="../ink/ink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customXml" Target="../ink/ink4.xml"/><Relationship Id="rId7" Type="http://schemas.openxmlformats.org/officeDocument/2006/relationships/customXml" Target="../ink/ink5.xml"/><Relationship Id="rId12" Type="http://schemas.openxmlformats.org/officeDocument/2006/relationships/image" Target="../media/image13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customXml" Target="../ink/ink7.xml"/><Relationship Id="rId10" Type="http://schemas.openxmlformats.org/officeDocument/2006/relationships/image" Target="../media/image121.png"/><Relationship Id="rId9" Type="http://schemas.openxmlformats.org/officeDocument/2006/relationships/customXml" Target="../ink/ink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869BD1D4-1CFC-EC21-D69C-D3B810D3F66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23850" y="1555750"/>
            <a:ext cx="8496300" cy="1368425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Statistical Analysis of Air Quality Data</a:t>
            </a:r>
            <a:br>
              <a:rPr lang="en-US" altLang="en-US" sz="2400" u="sng" dirty="0"/>
            </a:br>
            <a:br>
              <a:rPr lang="en-US" altLang="en-US" sz="5400" dirty="0"/>
            </a:br>
            <a:br>
              <a:rPr lang="en-US" altLang="en-US" sz="4800" dirty="0"/>
            </a:br>
            <a:endParaRPr lang="en-US" altLang="en-US" sz="4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D9E1D5-F7F2-702D-34FA-2C2286454699}"/>
              </a:ext>
            </a:extLst>
          </p:cNvPr>
          <p:cNvSpPr txBox="1"/>
          <p:nvPr/>
        </p:nvSpPr>
        <p:spPr>
          <a:xfrm>
            <a:off x="323850" y="3150206"/>
            <a:ext cx="697178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400" b="1" dirty="0">
                <a:solidFill>
                  <a:schemeClr val="tx2"/>
                </a:solidFill>
              </a:rPr>
              <a:t>Topics covered in this short video</a:t>
            </a:r>
            <a:endParaRPr lang="en-US" altLang="en-US" b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0" dirty="0">
                <a:solidFill>
                  <a:schemeClr val="tx2"/>
                </a:solidFill>
              </a:rPr>
              <a:t>Downloading data and reading your data into 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0" dirty="0">
                <a:solidFill>
                  <a:schemeClr val="tx2"/>
                </a:solidFill>
              </a:rPr>
              <a:t>Descriptive statistics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0" dirty="0">
                <a:solidFill>
                  <a:schemeClr val="tx2"/>
                </a:solidFill>
              </a:rPr>
              <a:t>Time-series plots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0" dirty="0">
                <a:solidFill>
                  <a:schemeClr val="tx2"/>
                </a:solidFill>
              </a:rPr>
              <a:t>Scatterplots, correlation and linear regression</a:t>
            </a:r>
            <a:br>
              <a:rPr lang="en-US" altLang="en-US" sz="6000" dirty="0"/>
            </a:b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168"/>
    </mc:Choice>
    <mc:Fallback xmlns="">
      <p:transition spd="slow" advTm="3116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3F288E83-5A19-3B3F-B7D7-BD3F95834C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500" y="692150"/>
            <a:ext cx="8489950" cy="1296988"/>
          </a:xfrm>
        </p:spPr>
        <p:txBody>
          <a:bodyPr/>
          <a:lstStyle/>
          <a:p>
            <a:r>
              <a:rPr lang="en-US" altLang="en-US" sz="3200" dirty="0"/>
              <a:t>Downloading data and reading your data into R</a:t>
            </a:r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EA83FA-B03B-202E-23D8-C7BD623879FE}"/>
              </a:ext>
            </a:extLst>
          </p:cNvPr>
          <p:cNvSpPr txBox="1"/>
          <p:nvPr/>
        </p:nvSpPr>
        <p:spPr>
          <a:xfrm>
            <a:off x="421239" y="1965707"/>
            <a:ext cx="827069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Download data from the UK government Defra (Department for environment, food and rural affairs) website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URL and full details can be found in the practical instructions accompanying this video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are downloaded as a csv (comma separated values) file, which can easily be read into 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You’ll need to do a bit of ‘cleaning’ of the file before reading it into R. This ‘cleaning’ is best done beforehand, in a spreadsheet such as excel</a:t>
            </a:r>
          </a:p>
          <a:p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CA8FD1D-B48B-99C4-F83B-4D3D608FE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223412"/>
            <a:ext cx="9144000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9522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Roboto" panose="020F0502020204030204" pitchFamily="34" charset="0"/>
              </a:rPr>
              <a:t>  </a:t>
            </a:r>
            <a:r>
              <a:rPr kumimoji="0" lang="en-US" altLang="en-US" sz="15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Roboto" panose="020F0502020204030204" pitchFamily="34" charset="0"/>
              </a:rPr>
              <a:t>      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770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040"/>
    </mc:Choice>
    <mc:Fallback xmlns="">
      <p:transition spd="slow" advTm="6004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3F288E83-5A19-3B3F-B7D7-BD3F95834C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500" y="692150"/>
            <a:ext cx="8489950" cy="1296988"/>
          </a:xfrm>
        </p:spPr>
        <p:txBody>
          <a:bodyPr/>
          <a:lstStyle/>
          <a:p>
            <a:r>
              <a:rPr lang="en-US" altLang="en-US" sz="3200" dirty="0"/>
              <a:t>Downloading data and reading your data into R</a:t>
            </a:r>
            <a:endParaRPr lang="en-US" alt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CA8FD1D-B48B-99C4-F83B-4D3D608FE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223412"/>
            <a:ext cx="9144000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9522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Roboto" panose="020F0502020204030204" pitchFamily="34" charset="0"/>
              </a:rPr>
              <a:t>  </a:t>
            </a:r>
            <a:r>
              <a:rPr kumimoji="0" lang="en-US" altLang="en-US" sz="15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Roboto" panose="020F0502020204030204" pitchFamily="34" charset="0"/>
              </a:rPr>
              <a:t>      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1744232-3E02-3CE2-4E66-0D00F5B61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6" y="1756711"/>
            <a:ext cx="7561780" cy="500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307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70"/>
    </mc:Choice>
    <mc:Fallback xmlns="">
      <p:transition spd="slow" advTm="3007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3F288E83-5A19-3B3F-B7D7-BD3F95834C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500" y="692150"/>
            <a:ext cx="8489950" cy="1296988"/>
          </a:xfrm>
        </p:spPr>
        <p:txBody>
          <a:bodyPr/>
          <a:lstStyle/>
          <a:p>
            <a:r>
              <a:rPr lang="en-US" altLang="en-US" sz="3200" dirty="0"/>
              <a:t>Downloading data and reading your data into R</a:t>
            </a:r>
            <a:endParaRPr lang="en-US" alt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CA8FD1D-B48B-99C4-F83B-4D3D608FE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223412"/>
            <a:ext cx="9144000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9522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Roboto" panose="020F0502020204030204" pitchFamily="34" charset="0"/>
              </a:rPr>
              <a:t>  </a:t>
            </a:r>
            <a:r>
              <a:rPr kumimoji="0" lang="en-US" altLang="en-US" sz="15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Roboto" panose="020F0502020204030204" pitchFamily="34" charset="0"/>
              </a:rPr>
              <a:t>      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 descr="Graphical user interface, application, table, Excel&#10;&#10;Description automatically generated">
            <a:extLst>
              <a:ext uri="{FF2B5EF4-FFF2-40B4-BE49-F238E27FC236}">
                <a16:creationId xmlns:a16="http://schemas.microsoft.com/office/drawing/2014/main" id="{DF391F55-FB2B-CE90-D6F3-E9C7ABF077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3429"/>
          <a:stretch/>
        </p:blipFill>
        <p:spPr>
          <a:xfrm>
            <a:off x="403279" y="1847012"/>
            <a:ext cx="8423221" cy="24468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D6BBC6-99FA-9EAA-9315-C9A68FAF024C}"/>
              </a:ext>
            </a:extLst>
          </p:cNvPr>
          <p:cNvSpPr txBox="1"/>
          <p:nvPr/>
        </p:nvSpPr>
        <p:spPr>
          <a:xfrm>
            <a:off x="1819645" y="5388191"/>
            <a:ext cx="5504708" cy="6463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read data into R, use the </a:t>
            </a:r>
            <a:r>
              <a:rPr lang="en-GB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read.csv</a:t>
            </a:r>
            <a:r>
              <a:rPr lang="en-GB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command</a:t>
            </a:r>
          </a:p>
          <a:p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NEW_FILENAME &lt;-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read.csv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(”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Old_file_name.csv",skip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=4)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8B2A28-D4F8-2409-271D-9CA39F46F43E}"/>
              </a:ext>
            </a:extLst>
          </p:cNvPr>
          <p:cNvSpPr txBox="1"/>
          <p:nvPr/>
        </p:nvSpPr>
        <p:spPr>
          <a:xfrm>
            <a:off x="139938" y="4424948"/>
            <a:ext cx="88641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Clean up your csv file in excel before attempting to read it into R. Remove selected columns. Remove ‘No data’ from cells.</a:t>
            </a:r>
          </a:p>
        </p:txBody>
      </p:sp>
    </p:spTree>
    <p:extLst>
      <p:ext uri="{BB962C8B-B14F-4D97-AF65-F5344CB8AC3E}">
        <p14:creationId xmlns:p14="http://schemas.microsoft.com/office/powerpoint/2010/main" val="2643777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998"/>
    </mc:Choice>
    <mc:Fallback xmlns="">
      <p:transition spd="slow" advTm="10099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3F288E83-5A19-3B3F-B7D7-BD3F95834C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500" y="692150"/>
            <a:ext cx="8489950" cy="1296988"/>
          </a:xfrm>
        </p:spPr>
        <p:txBody>
          <a:bodyPr/>
          <a:lstStyle/>
          <a:p>
            <a:r>
              <a:rPr lang="en-US" altLang="en-US" sz="3200" dirty="0"/>
              <a:t>Descriptive statistics</a:t>
            </a:r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A67F6E-D41F-9BDA-A7D8-ECDF76B74C65}"/>
              </a:ext>
            </a:extLst>
          </p:cNvPr>
          <p:cNvSpPr txBox="1"/>
          <p:nvPr/>
        </p:nvSpPr>
        <p:spPr>
          <a:xfrm>
            <a:off x="1128814" y="2325140"/>
            <a:ext cx="5920595" cy="92333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summary(YOUR_FILENAME)</a:t>
            </a:r>
          </a:p>
          <a:p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mean(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YOUR_FILENAME$variable_name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na.rm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=TRUE)</a:t>
            </a:r>
          </a:p>
          <a:p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sd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YOUR_FILENAME$variable_name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na.rm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=TRUE)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C113EB-50B6-9AC6-799E-ECC10A040B57}"/>
              </a:ext>
            </a:extLst>
          </p:cNvPr>
          <p:cNvSpPr txBox="1"/>
          <p:nvPr/>
        </p:nvSpPr>
        <p:spPr>
          <a:xfrm>
            <a:off x="1128814" y="5166627"/>
            <a:ext cx="5920595" cy="6463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mean(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YOUR_FILENAME$variable_name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[1:91],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na.rm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=TRUE)</a:t>
            </a:r>
          </a:p>
          <a:p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sd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YOUR_FILENAME$variable_name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[1:91],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na.rm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=TRUE)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CDF55B-ADCC-5296-9189-67721725EE9A}"/>
              </a:ext>
            </a:extLst>
          </p:cNvPr>
          <p:cNvSpPr txBox="1"/>
          <p:nvPr/>
        </p:nvSpPr>
        <p:spPr>
          <a:xfrm>
            <a:off x="336550" y="1489817"/>
            <a:ext cx="7757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Summarize your file using ‘summary’: ‘mean’ and ‘</a:t>
            </a:r>
            <a:r>
              <a:rPr lang="en-US" sz="1800" dirty="0" err="1"/>
              <a:t>sd</a:t>
            </a:r>
            <a:r>
              <a:rPr lang="en-US" sz="1800" dirty="0"/>
              <a:t>’ will give the mean and standard deviation, respectively, of the selected variables.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779297-3C5C-848C-E231-A8ED3ACF1B59}"/>
              </a:ext>
            </a:extLst>
          </p:cNvPr>
          <p:cNvSpPr txBox="1"/>
          <p:nvPr/>
        </p:nvSpPr>
        <p:spPr>
          <a:xfrm>
            <a:off x="448710" y="3429000"/>
            <a:ext cx="7280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Note that you must add the code ‘</a:t>
            </a:r>
            <a:r>
              <a:rPr lang="en-US" sz="1800" dirty="0" err="1"/>
              <a:t>na.rm</a:t>
            </a:r>
            <a:r>
              <a:rPr lang="en-US" sz="1800" dirty="0"/>
              <a:t>=TRUE” to deal with missing data (i.e. empty cells)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CA8A6B-DA5E-689B-84F5-A6F6A1BF8AEB}"/>
              </a:ext>
            </a:extLst>
          </p:cNvPr>
          <p:cNvSpPr txBox="1"/>
          <p:nvPr/>
        </p:nvSpPr>
        <p:spPr>
          <a:xfrm>
            <a:off x="-17641" y="4141172"/>
            <a:ext cx="91602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You can specify rows in your mean and standard deviation calculations in order to determine parameters for different quarters of the year. For example, [1:91] below calculates values for the variable in rows 1 to 91, inclusive.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2CC9CC-EA79-EC73-7B9C-7F0BF1928084}"/>
              </a:ext>
            </a:extLst>
          </p:cNvPr>
          <p:cNvSpPr txBox="1"/>
          <p:nvPr/>
        </p:nvSpPr>
        <p:spPr>
          <a:xfrm>
            <a:off x="139954" y="5915082"/>
            <a:ext cx="8798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You are asked to summarize the descriptive statistics in a table: you can make this table in excel and import it into your write-up</a:t>
            </a:r>
          </a:p>
        </p:txBody>
      </p:sp>
    </p:spTree>
    <p:extLst>
      <p:ext uri="{BB962C8B-B14F-4D97-AF65-F5344CB8AC3E}">
        <p14:creationId xmlns:p14="http://schemas.microsoft.com/office/powerpoint/2010/main" val="161676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113"/>
    </mc:Choice>
    <mc:Fallback xmlns="">
      <p:transition spd="slow" advTm="12011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3F288E83-5A19-3B3F-B7D7-BD3F95834C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500" y="692150"/>
            <a:ext cx="8489950" cy="1296988"/>
          </a:xfrm>
        </p:spPr>
        <p:txBody>
          <a:bodyPr/>
          <a:lstStyle/>
          <a:p>
            <a:r>
              <a:rPr lang="en-US" altLang="en-US" sz="3200" dirty="0"/>
              <a:t>Time-series plots</a:t>
            </a:r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16A6C2-2C12-0D4A-A84D-6AE5F336E8F6}"/>
              </a:ext>
            </a:extLst>
          </p:cNvPr>
          <p:cNvSpPr txBox="1"/>
          <p:nvPr/>
        </p:nvSpPr>
        <p:spPr>
          <a:xfrm>
            <a:off x="336550" y="1245134"/>
            <a:ext cx="82834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 time series plot is used to plot variables as a function of time. We use plot() for this but have to take steps to deal  with ‘date’ data and to joint the coordinates with a line.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E092AF-072C-674A-00C0-62588A0E59A6}"/>
              </a:ext>
            </a:extLst>
          </p:cNvPr>
          <p:cNvSpPr txBox="1"/>
          <p:nvPr/>
        </p:nvSpPr>
        <p:spPr>
          <a:xfrm>
            <a:off x="223535" y="2468206"/>
            <a:ext cx="8363164" cy="5232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>
                <a:effectLst/>
                <a:latin typeface="Helvetica Neue" panose="02000503000000020004" pitchFamily="2" charset="0"/>
              </a:rPr>
              <a:t>plot(</a:t>
            </a:r>
            <a:r>
              <a:rPr lang="en-GB" sz="1400" dirty="0" err="1">
                <a:effectLst/>
                <a:latin typeface="Helvetica Neue" panose="02000503000000020004" pitchFamily="2" charset="0"/>
              </a:rPr>
              <a:t>YOUR_FILENAME$variable_name~as.Date</a:t>
            </a:r>
            <a:r>
              <a:rPr lang="en-GB" sz="1400" dirty="0">
                <a:effectLst/>
                <a:latin typeface="Helvetica Neue" panose="02000503000000020004" pitchFamily="2" charset="0"/>
              </a:rPr>
              <a:t> (YOUR_</a:t>
            </a:r>
            <a:r>
              <a:rPr lang="en-GB" sz="1400" dirty="0" err="1">
                <a:effectLst/>
                <a:latin typeface="Helvetica Neue" panose="02000503000000020004" pitchFamily="2" charset="0"/>
              </a:rPr>
              <a:t>FILENAME$Date</a:t>
            </a:r>
            <a:r>
              <a:rPr lang="en-GB" sz="1400" dirty="0">
                <a:effectLst/>
                <a:latin typeface="Helvetica Neue" panose="02000503000000020004" pitchFamily="2" charset="0"/>
              </a:rPr>
              <a:t>,"%d/%m/%y"))</a:t>
            </a:r>
          </a:p>
          <a:p>
            <a:r>
              <a:rPr lang="en-GB" sz="1400" dirty="0">
                <a:effectLst/>
                <a:latin typeface="Helvetica Neue" panose="02000503000000020004" pitchFamily="2" charset="0"/>
              </a:rPr>
              <a:t>lines(YOUR_FILENAME$ </a:t>
            </a:r>
            <a:r>
              <a:rPr lang="en-GB" sz="1400" dirty="0" err="1">
                <a:effectLst/>
                <a:latin typeface="Helvetica Neue" panose="02000503000000020004" pitchFamily="2" charset="0"/>
              </a:rPr>
              <a:t>variable_name~as.Date</a:t>
            </a:r>
            <a:r>
              <a:rPr lang="en-GB" sz="1400" dirty="0">
                <a:effectLst/>
                <a:latin typeface="Helvetica Neue" panose="02000503000000020004" pitchFamily="2" charset="0"/>
              </a:rPr>
              <a:t> (YOUR_</a:t>
            </a:r>
            <a:r>
              <a:rPr lang="en-GB" sz="1400" dirty="0" err="1">
                <a:effectLst/>
                <a:latin typeface="Helvetica Neue" panose="02000503000000020004" pitchFamily="2" charset="0"/>
              </a:rPr>
              <a:t>FILENAME$Date</a:t>
            </a:r>
            <a:r>
              <a:rPr lang="en-GB" sz="1400" dirty="0">
                <a:effectLst/>
                <a:latin typeface="Helvetica Neue" panose="02000503000000020004" pitchFamily="2" charset="0"/>
              </a:rPr>
              <a:t>,"%d/%m/%y"))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51B3B2-4261-DB7A-692A-8110F2A31F95}"/>
              </a:ext>
            </a:extLst>
          </p:cNvPr>
          <p:cNvSpPr txBox="1"/>
          <p:nvPr/>
        </p:nvSpPr>
        <p:spPr>
          <a:xfrm>
            <a:off x="2912018" y="4442064"/>
            <a:ext cx="2535502" cy="147732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main=”your graph’s title”</a:t>
            </a:r>
          </a:p>
          <a:p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xlab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=“x-axis label”</a:t>
            </a:r>
          </a:p>
          <a:p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ylab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=“y-axis label”</a:t>
            </a:r>
          </a:p>
          <a:p>
            <a:r>
              <a:rPr lang="en-GB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ylim</a:t>
            </a:r>
            <a:r>
              <a:rPr lang="en-GB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=c(</a:t>
            </a:r>
            <a:r>
              <a:rPr lang="en-GB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x,y</a:t>
            </a:r>
            <a:r>
              <a:rPr lang="en-GB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DC4B81-7EA3-F943-B123-1E5EA2522479}"/>
              </a:ext>
            </a:extLst>
          </p:cNvPr>
          <p:cNvSpPr txBox="1"/>
          <p:nvPr/>
        </p:nvSpPr>
        <p:spPr>
          <a:xfrm>
            <a:off x="210763" y="3239809"/>
            <a:ext cx="84899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Enhance your plot (e.g. with custom axis labels and a main title, and specifying  lower and upper limits to the y-axis values – useful for comparing two charts) by adding a comma after the first line of code and inserting the following 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219256-99FD-5C4C-B8E2-0FD1686157CC}"/>
              </a:ext>
            </a:extLst>
          </p:cNvPr>
          <p:cNvSpPr txBox="1"/>
          <p:nvPr/>
        </p:nvSpPr>
        <p:spPr>
          <a:xfrm>
            <a:off x="1648753" y="6349429"/>
            <a:ext cx="55127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GB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lim</a:t>
            </a:r>
            <a:r>
              <a:rPr lang="en-GB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specifies lower (x) and upper (y) limits for the y axis.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05289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520"/>
    </mc:Choice>
    <mc:Fallback xmlns="">
      <p:transition spd="slow" advTm="8052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869BD1D4-1CFC-EC21-D69C-D3B810D3F66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71767" y="2060575"/>
            <a:ext cx="8496300" cy="1368425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Scatterplots, correlation and linear regression</a:t>
            </a:r>
            <a:br>
              <a:rPr lang="en-US" altLang="en-US" sz="2400" dirty="0"/>
            </a:br>
            <a:br>
              <a:rPr lang="en-US" altLang="en-US" sz="3200" dirty="0"/>
            </a:br>
            <a:br>
              <a:rPr lang="en-US" altLang="en-US" sz="5400" dirty="0"/>
            </a:br>
            <a:br>
              <a:rPr lang="en-US" altLang="en-US" sz="4800" dirty="0"/>
            </a:br>
            <a:endParaRPr lang="en-US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59050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455"/>
    </mc:Choice>
    <mc:Fallback xmlns="">
      <p:transition spd="slow" advTm="1145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CC5150E4-86CC-6EAA-C840-0AA920070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388" y="1149216"/>
            <a:ext cx="7200900" cy="5562600"/>
          </a:xfrm>
          <a:prstGeom prst="rect">
            <a:avLst/>
          </a:prstGeom>
        </p:spPr>
      </p:pic>
      <p:sp>
        <p:nvSpPr>
          <p:cNvPr id="17409" name="Title 1">
            <a:extLst>
              <a:ext uri="{FF2B5EF4-FFF2-40B4-BE49-F238E27FC236}">
                <a16:creationId xmlns:a16="http://schemas.microsoft.com/office/drawing/2014/main" id="{3F288E83-5A19-3B3F-B7D7-BD3F95834C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00722"/>
            <a:ext cx="8489950" cy="1296988"/>
          </a:xfrm>
        </p:spPr>
        <p:txBody>
          <a:bodyPr/>
          <a:lstStyle/>
          <a:p>
            <a:r>
              <a:rPr lang="en-US" altLang="en-US" sz="3200" dirty="0"/>
              <a:t>Scatterplots</a:t>
            </a:r>
            <a:endParaRPr lang="en-US" altLang="en-US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DAF890E-91AF-8E6F-BA6A-96EEE33D3DEB}"/>
                  </a:ext>
                </a:extLst>
              </p14:cNvPr>
              <p14:cNvContentPartPr/>
              <p14:nvPr/>
            </p14:nvContentPartPr>
            <p14:xfrm>
              <a:off x="670528" y="2525891"/>
              <a:ext cx="891720" cy="2534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DAF890E-91AF-8E6F-BA6A-96EEE33D3DE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2528" y="2417891"/>
                <a:ext cx="927360" cy="27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32DFC15-E2C3-AAF5-2C0B-8CC99B39D663}"/>
                  </a:ext>
                </a:extLst>
              </p14:cNvPr>
              <p14:cNvContentPartPr/>
              <p14:nvPr/>
            </p14:nvContentPartPr>
            <p14:xfrm>
              <a:off x="3593730" y="6081489"/>
              <a:ext cx="2899080" cy="776511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32DFC15-E2C3-AAF5-2C0B-8CC99B39D66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75730" y="5973540"/>
                <a:ext cx="2934720" cy="9920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317B6AD-710B-E0AB-CDD9-9854122F61A3}"/>
                  </a:ext>
                </a:extLst>
              </p14:cNvPr>
              <p14:cNvContentPartPr/>
              <p14:nvPr/>
            </p14:nvContentPartPr>
            <p14:xfrm>
              <a:off x="6942402" y="1467324"/>
              <a:ext cx="568440" cy="529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317B6AD-710B-E0AB-CDD9-9854122F61A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924402" y="1359324"/>
                <a:ext cx="604080" cy="74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805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348"/>
    </mc:Choice>
    <mc:Fallback xmlns="">
      <p:transition spd="slow" advTm="5234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3F288E83-5A19-3B3F-B7D7-BD3F95834C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500" y="692150"/>
            <a:ext cx="8489950" cy="1296988"/>
          </a:xfrm>
        </p:spPr>
        <p:txBody>
          <a:bodyPr/>
          <a:lstStyle/>
          <a:p>
            <a:r>
              <a:rPr lang="en-US" altLang="en-US" sz="3200" dirty="0"/>
              <a:t>Scatterplots</a:t>
            </a:r>
            <a:endParaRPr lang="en-US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699A35-0336-4216-637D-1B2B1AE5CE5D}"/>
              </a:ext>
            </a:extLst>
          </p:cNvPr>
          <p:cNvSpPr txBox="1"/>
          <p:nvPr/>
        </p:nvSpPr>
        <p:spPr>
          <a:xfrm>
            <a:off x="920709" y="2188951"/>
            <a:ext cx="7394140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effectLst/>
                <a:latin typeface="AppleSystemUIFont"/>
                <a:ea typeface="Calibri" panose="020F0502020204030204" pitchFamily="34" charset="0"/>
                <a:cs typeface="AppleSystemUIFont"/>
              </a:rPr>
              <a:t>plot(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YOUR_FILENAME$variable_name1 ~ YOUR_FILENAME$variable_name2</a:t>
            </a:r>
            <a:r>
              <a:rPr lang="en-US" sz="1800" dirty="0">
                <a:effectLst/>
                <a:latin typeface="AppleSystemUIFont"/>
                <a:ea typeface="Calibri" panose="020F0502020204030204" pitchFamily="34" charset="0"/>
                <a:cs typeface="AppleSystemUIFont"/>
              </a:rPr>
              <a:t>)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A87F62-B852-2EF3-D25C-D5BB76FA27FC}"/>
              </a:ext>
            </a:extLst>
          </p:cNvPr>
          <p:cNvSpPr txBox="1"/>
          <p:nvPr/>
        </p:nvSpPr>
        <p:spPr>
          <a:xfrm>
            <a:off x="657595" y="1407761"/>
            <a:ext cx="3914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make a basic scatterplot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46A2D2-A55E-6920-92B1-85B0065D26E3}"/>
              </a:ext>
            </a:extLst>
          </p:cNvPr>
          <p:cNvSpPr txBox="1"/>
          <p:nvPr/>
        </p:nvSpPr>
        <p:spPr>
          <a:xfrm>
            <a:off x="317500" y="2686846"/>
            <a:ext cx="86312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Enhance your plot (e.g. with custom axis labels and a main title) by adding a comma after “variable_name2” and inserting the following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E4566B-30DC-0E5E-3034-0440641CA339}"/>
              </a:ext>
            </a:extLst>
          </p:cNvPr>
          <p:cNvSpPr txBox="1"/>
          <p:nvPr/>
        </p:nvSpPr>
        <p:spPr>
          <a:xfrm>
            <a:off x="3086679" y="4061218"/>
            <a:ext cx="2535502" cy="120032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main=”your graph’s title”</a:t>
            </a:r>
          </a:p>
          <a:p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xlab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=“x-axis label”</a:t>
            </a:r>
          </a:p>
          <a:p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Ylab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=“y-axis label”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18B381-0A02-5052-60B8-31D1BCEF7957}"/>
              </a:ext>
            </a:extLst>
          </p:cNvPr>
          <p:cNvSpPr txBox="1"/>
          <p:nvPr/>
        </p:nvSpPr>
        <p:spPr>
          <a:xfrm>
            <a:off x="636498" y="5622260"/>
            <a:ext cx="7851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But, we want to add a regression line to the scatterplot, so look at the next four slides before completing your plot</a:t>
            </a:r>
          </a:p>
        </p:txBody>
      </p:sp>
    </p:spTree>
    <p:extLst>
      <p:ext uri="{BB962C8B-B14F-4D97-AF65-F5344CB8AC3E}">
        <p14:creationId xmlns:p14="http://schemas.microsoft.com/office/powerpoint/2010/main" val="495403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882"/>
    </mc:Choice>
    <mc:Fallback xmlns="">
      <p:transition spd="slow" advTm="5088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3F288E83-5A19-3B3F-B7D7-BD3F95834C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500" y="692150"/>
            <a:ext cx="8489950" cy="1296988"/>
          </a:xfrm>
        </p:spPr>
        <p:txBody>
          <a:bodyPr/>
          <a:lstStyle/>
          <a:p>
            <a:r>
              <a:rPr lang="en-US" altLang="en-US" sz="3200" dirty="0"/>
              <a:t>Correlation</a:t>
            </a:r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5AA5DB-BC37-2F9C-269D-00CCAD5627CD}"/>
              </a:ext>
            </a:extLst>
          </p:cNvPr>
          <p:cNvSpPr txBox="1"/>
          <p:nvPr/>
        </p:nvSpPr>
        <p:spPr>
          <a:xfrm>
            <a:off x="737902" y="5309507"/>
            <a:ext cx="7591437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 err="1">
                <a:effectLst/>
                <a:latin typeface="AppleSystemUIFont"/>
                <a:ea typeface="Calibri" panose="020F0502020204030204" pitchFamily="34" charset="0"/>
                <a:cs typeface="AppleSystemUIFont"/>
              </a:rPr>
              <a:t>cor.test</a:t>
            </a:r>
            <a:r>
              <a:rPr lang="en-US" sz="1800" dirty="0">
                <a:effectLst/>
                <a:latin typeface="AppleSystemUIFont"/>
                <a:ea typeface="Calibri" panose="020F0502020204030204" pitchFamily="34" charset="0"/>
                <a:cs typeface="AppleSystemUIFont"/>
              </a:rPr>
              <a:t>(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YOUR_FILENAME$variable_name1, YOUR_FILENAME$variable_name2</a:t>
            </a:r>
            <a:r>
              <a:rPr lang="en-US" sz="1800" dirty="0">
                <a:effectLst/>
                <a:latin typeface="AppleSystemUIFont"/>
                <a:ea typeface="Calibri" panose="020F0502020204030204" pitchFamily="34" charset="0"/>
                <a:cs typeface="AppleSystemUIFont"/>
              </a:rPr>
              <a:t>)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D12209-230A-86E3-EE10-21B997285D4A}"/>
              </a:ext>
            </a:extLst>
          </p:cNvPr>
          <p:cNvSpPr txBox="1"/>
          <p:nvPr/>
        </p:nvSpPr>
        <p:spPr>
          <a:xfrm>
            <a:off x="585875" y="1571259"/>
            <a:ext cx="795319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Correlation measures the strength of association, or covariance, between two variables. In R we use </a:t>
            </a:r>
            <a:r>
              <a:rPr lang="en-US" sz="1800" dirty="0" err="1"/>
              <a:t>cor.test</a:t>
            </a:r>
            <a:r>
              <a:rPr lang="en-US" sz="1800" dirty="0"/>
              <a:t>()</a:t>
            </a:r>
          </a:p>
          <a:p>
            <a:endParaRPr lang="en-US" sz="1800" dirty="0"/>
          </a:p>
          <a:p>
            <a:r>
              <a:rPr lang="en-US" sz="1800" dirty="0"/>
              <a:t>The default method in </a:t>
            </a:r>
            <a:r>
              <a:rPr lang="en-US" sz="1800" dirty="0" err="1"/>
              <a:t>cor.test</a:t>
            </a:r>
            <a:r>
              <a:rPr lang="en-US" sz="1800" dirty="0"/>
              <a:t> is the Pearson Product Moment correlation, but Spearman’s rank and Kendall’s rank are also available (method = “spearman” or “</a:t>
            </a:r>
            <a:r>
              <a:rPr lang="en-US" sz="1800" dirty="0" err="1"/>
              <a:t>kendall</a:t>
            </a:r>
            <a:r>
              <a:rPr lang="en-US" sz="1800" dirty="0"/>
              <a:t>”, </a:t>
            </a:r>
            <a:r>
              <a:rPr lang="en-US" sz="1800" dirty="0" err="1"/>
              <a:t>resepctively</a:t>
            </a:r>
            <a:r>
              <a:rPr lang="en-US" sz="1800" dirty="0"/>
              <a:t>). Decide which method is most appropriate for the data in this practical</a:t>
            </a:r>
          </a:p>
          <a:p>
            <a:endParaRPr lang="en-US" sz="1800" dirty="0"/>
          </a:p>
          <a:p>
            <a:r>
              <a:rPr lang="en-US" sz="1800" dirty="0"/>
              <a:t>The correlation coefficient, or R, varies between +1 (perfect positive) and -1 (perfect negative)</a:t>
            </a:r>
          </a:p>
          <a:p>
            <a:endParaRPr lang="en-US" sz="1800" dirty="0"/>
          </a:p>
          <a:p>
            <a:r>
              <a:rPr lang="en-US" sz="1800" dirty="0"/>
              <a:t>R</a:t>
            </a:r>
            <a:r>
              <a:rPr lang="en-US" sz="1800" baseline="30000" dirty="0"/>
              <a:t>2</a:t>
            </a:r>
            <a:r>
              <a:rPr lang="en-US" sz="1800" dirty="0"/>
              <a:t> is the coefficient of determination – the amount (or proportion) of variation in the dependent variable that is explained by the independent variable</a:t>
            </a:r>
            <a:endParaRPr lang="en-US" sz="1800" baseline="30000" dirty="0"/>
          </a:p>
        </p:txBody>
      </p:sp>
    </p:spTree>
    <p:extLst>
      <p:ext uri="{BB962C8B-B14F-4D97-AF65-F5344CB8AC3E}">
        <p14:creationId xmlns:p14="http://schemas.microsoft.com/office/powerpoint/2010/main" val="3849132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606"/>
    </mc:Choice>
    <mc:Fallback xmlns="">
      <p:transition spd="slow" advTm="94606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528168C-DCD2-0DD6-FF07-7A8DC386FF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5671128"/>
              </p:ext>
            </p:extLst>
          </p:nvPr>
        </p:nvGraphicFramePr>
        <p:xfrm>
          <a:off x="-101565" y="2540071"/>
          <a:ext cx="2978328" cy="2459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DC8BAB2-77D5-FEBE-6B89-52678A72EC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8248339"/>
              </p:ext>
            </p:extLst>
          </p:nvPr>
        </p:nvGraphicFramePr>
        <p:xfrm>
          <a:off x="2760646" y="2544031"/>
          <a:ext cx="3352477" cy="2451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9D673313-6243-C8B8-A8EA-37E0B4D4A4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7090945"/>
              </p:ext>
            </p:extLst>
          </p:nvPr>
        </p:nvGraphicFramePr>
        <p:xfrm>
          <a:off x="5915529" y="2540071"/>
          <a:ext cx="3094908" cy="24555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FF700BB-3B38-48B4-3A55-DBEDE842A063}"/>
              </a:ext>
            </a:extLst>
          </p:cNvPr>
          <p:cNvSpPr txBox="1"/>
          <p:nvPr/>
        </p:nvSpPr>
        <p:spPr>
          <a:xfrm>
            <a:off x="2054806" y="945223"/>
            <a:ext cx="5174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Correlation shown on scatterplots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F6F153-C3DC-0D12-57AC-7B9D46D1161E}"/>
              </a:ext>
            </a:extLst>
          </p:cNvPr>
          <p:cNvSpPr txBox="1"/>
          <p:nvPr/>
        </p:nvSpPr>
        <p:spPr>
          <a:xfrm>
            <a:off x="1376737" y="2044557"/>
            <a:ext cx="6530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Positive                 Negative                      None</a:t>
            </a:r>
          </a:p>
        </p:txBody>
      </p:sp>
    </p:spTree>
    <p:extLst>
      <p:ext uri="{BB962C8B-B14F-4D97-AF65-F5344CB8AC3E}">
        <p14:creationId xmlns:p14="http://schemas.microsoft.com/office/powerpoint/2010/main" val="3574884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403"/>
    </mc:Choice>
    <mc:Fallback xmlns="">
      <p:transition spd="slow" advTm="2940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scatter chart&#10;&#10;Description automatically generated">
            <a:extLst>
              <a:ext uri="{FF2B5EF4-FFF2-40B4-BE49-F238E27FC236}">
                <a16:creationId xmlns:a16="http://schemas.microsoft.com/office/drawing/2014/main" id="{BE9B9A9C-3204-C47D-7C84-9CADAD2ED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680" y="1129659"/>
            <a:ext cx="7289800" cy="5626100"/>
          </a:xfrm>
          <a:prstGeom prst="rect">
            <a:avLst/>
          </a:prstGeom>
        </p:spPr>
      </p:pic>
      <p:sp>
        <p:nvSpPr>
          <p:cNvPr id="17409" name="Title 1">
            <a:extLst>
              <a:ext uri="{FF2B5EF4-FFF2-40B4-BE49-F238E27FC236}">
                <a16:creationId xmlns:a16="http://schemas.microsoft.com/office/drawing/2014/main" id="{3F288E83-5A19-3B3F-B7D7-BD3F95834C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4661" y="495218"/>
            <a:ext cx="8489950" cy="1296988"/>
          </a:xfrm>
        </p:spPr>
        <p:txBody>
          <a:bodyPr/>
          <a:lstStyle/>
          <a:p>
            <a:r>
              <a:rPr lang="en-US" altLang="en-US" sz="3200" dirty="0"/>
              <a:t>Linear regression</a:t>
            </a:r>
            <a:endParaRPr lang="en-US" altLang="en-US" dirty="0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EABA42BB-8B4B-5238-7BD5-B213AD3E505E}"/>
              </a:ext>
            </a:extLst>
          </p:cNvPr>
          <p:cNvSpPr/>
          <p:nvPr/>
        </p:nvSpPr>
        <p:spPr bwMode="auto">
          <a:xfrm flipH="1">
            <a:off x="4737136" y="3091998"/>
            <a:ext cx="1078786" cy="873302"/>
          </a:xfrm>
          <a:prstGeom prst="rtTriangl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B1BA40DB-2332-5C87-7F7F-C201696AD4C3}"/>
              </a:ext>
            </a:extLst>
          </p:cNvPr>
          <p:cNvSpPr/>
          <p:nvPr/>
        </p:nvSpPr>
        <p:spPr bwMode="auto">
          <a:xfrm>
            <a:off x="1368481" y="5430540"/>
            <a:ext cx="176244" cy="836696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9A8C4-CD1C-BA1A-87E4-FD2E2AB20839}"/>
              </a:ext>
            </a:extLst>
          </p:cNvPr>
          <p:cNvSpPr txBox="1"/>
          <p:nvPr/>
        </p:nvSpPr>
        <p:spPr>
          <a:xfrm>
            <a:off x="6388252" y="3258141"/>
            <a:ext cx="16150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Gradient of the regression line: in this case, if x increases by 1, y increases by 0.88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8E9FF3-9357-CC87-88A2-6538B28691AF}"/>
              </a:ext>
            </a:extLst>
          </p:cNvPr>
          <p:cNvSpPr txBox="1"/>
          <p:nvPr/>
        </p:nvSpPr>
        <p:spPr>
          <a:xfrm>
            <a:off x="5840925" y="3374760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C840C5-0AA5-EA61-1FBE-112D6C190ADD}"/>
              </a:ext>
            </a:extLst>
          </p:cNvPr>
          <p:cNvSpPr txBox="1"/>
          <p:nvPr/>
        </p:nvSpPr>
        <p:spPr>
          <a:xfrm>
            <a:off x="5056370" y="3868220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34EEF9-1DA8-47AA-C206-8CA382188314}"/>
              </a:ext>
            </a:extLst>
          </p:cNvPr>
          <p:cNvSpPr txBox="1"/>
          <p:nvPr/>
        </p:nvSpPr>
        <p:spPr>
          <a:xfrm>
            <a:off x="49948" y="5603422"/>
            <a:ext cx="1362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Intercept of the regression line with the y axis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5EAAD1-F952-3731-EC75-91849083FB92}"/>
              </a:ext>
            </a:extLst>
          </p:cNvPr>
          <p:cNvSpPr txBox="1"/>
          <p:nvPr/>
        </p:nvSpPr>
        <p:spPr>
          <a:xfrm>
            <a:off x="3509818" y="1350440"/>
            <a:ext cx="1988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Regression equation and coefficient of determination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A50C664-BAD2-17E5-FC85-B7DDD7271955}"/>
                  </a:ext>
                </a:extLst>
              </p14:cNvPr>
              <p14:cNvContentPartPr/>
              <p14:nvPr/>
            </p14:nvContentPartPr>
            <p14:xfrm>
              <a:off x="2214938" y="1285108"/>
              <a:ext cx="1365120" cy="8121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A50C664-BAD2-17E5-FC85-B7DDD727195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96938" y="1177156"/>
                <a:ext cx="1400760" cy="1027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A928332-5977-B5D3-B126-0EA0C929BDEB}"/>
                  </a:ext>
                </a:extLst>
              </p14:cNvPr>
              <p14:cNvContentPartPr/>
              <p14:nvPr/>
            </p14:nvContentPartPr>
            <p14:xfrm>
              <a:off x="4478133" y="2478253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A928332-5977-B5D3-B126-0EA0C929BDE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60133" y="2370253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CEF2967-3FE3-DDEB-D166-3BBEBF2A2CCD}"/>
                  </a:ext>
                </a:extLst>
              </p14:cNvPr>
              <p14:cNvContentPartPr/>
              <p14:nvPr/>
            </p14:nvContentPartPr>
            <p14:xfrm>
              <a:off x="57180" y="5459182"/>
              <a:ext cx="1246680" cy="903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CEF2967-3FE3-DDEB-D166-3BBEBF2A2CC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175" y="5351182"/>
                <a:ext cx="1282330" cy="11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351159F-2BF4-9EBA-DAE7-BA519F0501FF}"/>
                  </a:ext>
                </a:extLst>
              </p14:cNvPr>
              <p14:cNvContentPartPr/>
              <p14:nvPr/>
            </p14:nvContentPartPr>
            <p14:xfrm>
              <a:off x="6318901" y="3131050"/>
              <a:ext cx="1641600" cy="1413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351159F-2BF4-9EBA-DAE7-BA519F0501F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00905" y="3023050"/>
                <a:ext cx="1677232" cy="162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2347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556"/>
    </mc:Choice>
    <mc:Fallback xmlns="">
      <p:transition spd="slow" advTm="77556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3F288E83-5A19-3B3F-B7D7-BD3F95834C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500" y="692150"/>
            <a:ext cx="8489950" cy="1296988"/>
          </a:xfrm>
        </p:spPr>
        <p:txBody>
          <a:bodyPr/>
          <a:lstStyle/>
          <a:p>
            <a:r>
              <a:rPr lang="en-US" altLang="en-US" sz="3200" dirty="0"/>
              <a:t>Linear regression</a:t>
            </a:r>
            <a:endParaRPr lang="en-US" altLang="en-US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A928332-5977-B5D3-B126-0EA0C929BDEB}"/>
                  </a:ext>
                </a:extLst>
              </p14:cNvPr>
              <p14:cNvContentPartPr/>
              <p14:nvPr/>
            </p14:nvContentPartPr>
            <p14:xfrm>
              <a:off x="4303472" y="2776203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A928332-5977-B5D3-B126-0EA0C929BDE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85472" y="2668203"/>
                <a:ext cx="36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ACF7FD2-EF90-CB45-5DF3-14F78E6D540E}"/>
              </a:ext>
            </a:extLst>
          </p:cNvPr>
          <p:cNvSpPr txBox="1"/>
          <p:nvPr/>
        </p:nvSpPr>
        <p:spPr>
          <a:xfrm>
            <a:off x="215756" y="1527473"/>
            <a:ext cx="86107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now need to calculate a regression line (a linear model, or ‘</a:t>
            </a:r>
            <a:r>
              <a:rPr lang="en-US" dirty="0" err="1"/>
              <a:t>lm</a:t>
            </a:r>
            <a:r>
              <a:rPr lang="en-US" dirty="0"/>
              <a:t>’) and add this to your scatterplot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9CD6C7-9DE5-9BA7-C244-21914AACC011}"/>
              </a:ext>
            </a:extLst>
          </p:cNvPr>
          <p:cNvSpPr txBox="1"/>
          <p:nvPr/>
        </p:nvSpPr>
        <p:spPr>
          <a:xfrm>
            <a:off x="39585" y="2455129"/>
            <a:ext cx="9104415" cy="33855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REGRESSION_LINE&lt;- </a:t>
            </a:r>
            <a:r>
              <a:rPr lang="en-GB" sz="1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lm</a:t>
            </a:r>
            <a:r>
              <a:rPr lang="en-G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(YOUR_FILENAME$variable_name1 ~ YOUR_FILENAME$variable_name2)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767EA1-6CA4-3422-AE84-2B0E0BB4A01E}"/>
              </a:ext>
            </a:extLst>
          </p:cNvPr>
          <p:cNvSpPr txBox="1"/>
          <p:nvPr/>
        </p:nvSpPr>
        <p:spPr>
          <a:xfrm>
            <a:off x="317500" y="3598415"/>
            <a:ext cx="8417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Then produce your scatterplot using the code on the previous ‘scatterplot’ slide, adding the code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550117-B0DA-51B6-5A8D-83C08A708740}"/>
              </a:ext>
            </a:extLst>
          </p:cNvPr>
          <p:cNvSpPr txBox="1"/>
          <p:nvPr/>
        </p:nvSpPr>
        <p:spPr>
          <a:xfrm>
            <a:off x="2899947" y="4591568"/>
            <a:ext cx="2807050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/>
              <a:t>+</a:t>
            </a:r>
            <a:r>
              <a:rPr lang="en-US" sz="1800" dirty="0" err="1"/>
              <a:t>abline</a:t>
            </a:r>
            <a:r>
              <a:rPr lang="en-US" sz="1800" dirty="0"/>
              <a:t>(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REGRESSION_LINE</a:t>
            </a:r>
            <a:r>
              <a:rPr lang="en-US" sz="1800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C4E0FE-C9DF-1991-A550-4B56ED6B9944}"/>
              </a:ext>
            </a:extLst>
          </p:cNvPr>
          <p:cNvSpPr txBox="1"/>
          <p:nvPr/>
        </p:nvSpPr>
        <p:spPr>
          <a:xfrm>
            <a:off x="390417" y="5092656"/>
            <a:ext cx="8417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obtain the coefficients (the slope and intercept) for the regression equation, use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602468-9E0C-AB3B-8D10-E6983FFC9AF4}"/>
              </a:ext>
            </a:extLst>
          </p:cNvPr>
          <p:cNvSpPr txBox="1"/>
          <p:nvPr/>
        </p:nvSpPr>
        <p:spPr>
          <a:xfrm>
            <a:off x="2818342" y="6055409"/>
            <a:ext cx="3119315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effectLst/>
                <a:latin typeface="AppleSystemUIFont"/>
                <a:ea typeface="Calibri" panose="020F0502020204030204" pitchFamily="34" charset="0"/>
                <a:cs typeface="AppleSystemUIFont"/>
              </a:rPr>
              <a:t>coefficients(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REGRESSION_LINE</a:t>
            </a:r>
            <a:r>
              <a:rPr lang="en-US" sz="1800" dirty="0">
                <a:effectLst/>
                <a:latin typeface="AppleSystemUIFont"/>
                <a:ea typeface="Calibri" panose="020F0502020204030204" pitchFamily="34" charset="0"/>
                <a:cs typeface="AppleSystemUIFont"/>
              </a:rPr>
              <a:t>)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6296E3-A1A0-B0AC-5834-26F436D94C58}"/>
              </a:ext>
            </a:extLst>
          </p:cNvPr>
          <p:cNvSpPr txBox="1"/>
          <p:nvPr/>
        </p:nvSpPr>
        <p:spPr>
          <a:xfrm>
            <a:off x="1365467" y="2962476"/>
            <a:ext cx="51966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“REGRESSION_LINE” is your name you choose for the regression line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1733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535"/>
    </mc:Choice>
    <mc:Fallback xmlns="">
      <p:transition spd="slow" advTm="64535"/>
    </mc:Fallback>
  </mc:AlternateContent>
</p:sld>
</file>

<file path=ppt/theme/theme1.xml><?xml version="1.0" encoding="utf-8"?>
<a:theme xmlns:a="http://schemas.openxmlformats.org/drawingml/2006/main" name="Custom Design">
  <a:themeElements>
    <a:clrScheme name="Custom Design 15">
      <a:dk1>
        <a:srgbClr val="000000"/>
      </a:dk1>
      <a:lt1>
        <a:srgbClr val="FFFFFF"/>
      </a:lt1>
      <a:dk2>
        <a:srgbClr val="004359"/>
      </a:dk2>
      <a:lt2>
        <a:srgbClr val="808080"/>
      </a:lt2>
      <a:accent1>
        <a:srgbClr val="7FA1AC"/>
      </a:accent1>
      <a:accent2>
        <a:srgbClr val="004359"/>
      </a:accent2>
      <a:accent3>
        <a:srgbClr val="FFFFFF"/>
      </a:accent3>
      <a:accent4>
        <a:srgbClr val="000000"/>
      </a:accent4>
      <a:accent5>
        <a:srgbClr val="C0CDD2"/>
      </a:accent5>
      <a:accent6>
        <a:srgbClr val="003C50"/>
      </a:accent6>
      <a:hlink>
        <a:srgbClr val="459CBD"/>
      </a:hlink>
      <a:folHlink>
        <a:srgbClr val="B25D86"/>
      </a:folHlink>
    </a:clrScheme>
    <a:fontScheme name="Custom Desig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FA1AC"/>
        </a:accent1>
        <a:accent2>
          <a:srgbClr val="004359"/>
        </a:accent2>
        <a:accent3>
          <a:srgbClr val="FFFFFF"/>
        </a:accent3>
        <a:accent4>
          <a:srgbClr val="000000"/>
        </a:accent4>
        <a:accent5>
          <a:srgbClr val="C0CDD2"/>
        </a:accent5>
        <a:accent6>
          <a:srgbClr val="003C50"/>
        </a:accent6>
        <a:hlink>
          <a:srgbClr val="4B4620"/>
        </a:hlink>
        <a:folHlink>
          <a:srgbClr val="B25D8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4">
        <a:dk1>
          <a:srgbClr val="000000"/>
        </a:dk1>
        <a:lt1>
          <a:srgbClr val="FFFFFF"/>
        </a:lt1>
        <a:dk2>
          <a:srgbClr val="004359"/>
        </a:dk2>
        <a:lt2>
          <a:srgbClr val="808080"/>
        </a:lt2>
        <a:accent1>
          <a:srgbClr val="7FA1AC"/>
        </a:accent1>
        <a:accent2>
          <a:srgbClr val="004359"/>
        </a:accent2>
        <a:accent3>
          <a:srgbClr val="FFFFFF"/>
        </a:accent3>
        <a:accent4>
          <a:srgbClr val="000000"/>
        </a:accent4>
        <a:accent5>
          <a:srgbClr val="C0CDD2"/>
        </a:accent5>
        <a:accent6>
          <a:srgbClr val="003C50"/>
        </a:accent6>
        <a:hlink>
          <a:srgbClr val="4B4620"/>
        </a:hlink>
        <a:folHlink>
          <a:srgbClr val="B25D8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5">
        <a:dk1>
          <a:srgbClr val="000000"/>
        </a:dk1>
        <a:lt1>
          <a:srgbClr val="FFFFFF"/>
        </a:lt1>
        <a:dk2>
          <a:srgbClr val="004359"/>
        </a:dk2>
        <a:lt2>
          <a:srgbClr val="808080"/>
        </a:lt2>
        <a:accent1>
          <a:srgbClr val="7FA1AC"/>
        </a:accent1>
        <a:accent2>
          <a:srgbClr val="004359"/>
        </a:accent2>
        <a:accent3>
          <a:srgbClr val="FFFFFF"/>
        </a:accent3>
        <a:accent4>
          <a:srgbClr val="000000"/>
        </a:accent4>
        <a:accent5>
          <a:srgbClr val="C0CDD2"/>
        </a:accent5>
        <a:accent6>
          <a:srgbClr val="003C50"/>
        </a:accent6>
        <a:hlink>
          <a:srgbClr val="459CBD"/>
        </a:hlink>
        <a:folHlink>
          <a:srgbClr val="B25D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2578</TotalTime>
  <Words>1002</Words>
  <Application>Microsoft Macintosh PowerPoint</Application>
  <PresentationFormat>On-screen Show (4:3)</PresentationFormat>
  <Paragraphs>84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AppleSystemUIFont</vt:lpstr>
      <vt:lpstr>Arial</vt:lpstr>
      <vt:lpstr>Calibri</vt:lpstr>
      <vt:lpstr>Helvetica Neue</vt:lpstr>
      <vt:lpstr>Roboto</vt:lpstr>
      <vt:lpstr>Custom Design</vt:lpstr>
      <vt:lpstr>Statistical Analysis of Air Quality Data   </vt:lpstr>
      <vt:lpstr>Downloading data and reading your data into R</vt:lpstr>
      <vt:lpstr>Downloading data and reading your data into R</vt:lpstr>
      <vt:lpstr>Downloading data and reading your data into R</vt:lpstr>
      <vt:lpstr>Descriptive statistics</vt:lpstr>
      <vt:lpstr>Time-series plots</vt:lpstr>
      <vt:lpstr>Scatterplots, correlation and linear regression    </vt:lpstr>
      <vt:lpstr>Scatterplots</vt:lpstr>
      <vt:lpstr>Scatterplots</vt:lpstr>
      <vt:lpstr>Correlation</vt:lpstr>
      <vt:lpstr>PowerPoint Presentation</vt:lpstr>
      <vt:lpstr>Linear regression</vt:lpstr>
      <vt:lpstr>Linear regression</vt:lpstr>
    </vt:vector>
  </TitlesOfParts>
  <Company>UCL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Simon Brown</dc:creator>
  <cp:lastModifiedBy>Holmes, Jonathan</cp:lastModifiedBy>
  <cp:revision>133</cp:revision>
  <cp:lastPrinted>2014-01-28T08:31:03Z</cp:lastPrinted>
  <dcterms:created xsi:type="dcterms:W3CDTF">2005-07-13T12:26:50Z</dcterms:created>
  <dcterms:modified xsi:type="dcterms:W3CDTF">2025-10-14T07:57:22Z</dcterms:modified>
</cp:coreProperties>
</file>